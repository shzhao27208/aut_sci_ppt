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64008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44768"/>
            <a:ext cx="12188952" cy="64008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E3A5F"/>
                </a:solidFill>
                <a:latin typeface="微软雅黑"/>
              </a:rPr>
              <a:t>High-Efficiency Short-Wave Near-Infrared Emission Enabled by Energy Transfer Engineering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11680" y="3337560"/>
            <a:ext cx="8229600" cy="0"/>
          </a:xfrm>
          <a:prstGeom prst="line">
            <a:avLst/>
          </a:prstGeom>
          <a:ln w="2540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97480" y="3925061"/>
            <a:ext cx="1508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dist"/>
            <a:r>
              <a:rPr sz="2000" b="1">
                <a:solidFill>
                  <a:srgbClr val="1E3A5F"/>
                </a:solidFill>
                <a:latin typeface="楷体"/>
              </a:rPr>
              <a:t>汇  报  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925061"/>
            <a:ext cx="25603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E3A5F"/>
                </a:solidFill>
                <a:latin typeface="楷体"/>
              </a:rPr>
              <a:t>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3925061"/>
            <a:ext cx="5029200" cy="797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楷体"/>
              </a:rPr>
              <a:t>（请填写）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5191506"/>
            <a:ext cx="1508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dist"/>
            <a:r>
              <a:rPr sz="2000" b="1">
                <a:solidFill>
                  <a:srgbClr val="1E3A5F"/>
                </a:solidFill>
                <a:latin typeface="楷体"/>
              </a:rPr>
              <a:t>日      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191506"/>
            <a:ext cx="25603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E3A5F"/>
                </a:solidFill>
                <a:latin typeface="楷体"/>
              </a:rPr>
              <a:t>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5191506"/>
            <a:ext cx="5029200" cy="797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楷体"/>
              </a:rPr>
              <a:t>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97512" y="0"/>
            <a:ext cx="91440" cy="658368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11823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目  录  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59536"/>
            <a:ext cx="54864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896112"/>
            <a:ext cx="4704588" cy="1319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微软雅黑"/>
              </a:rPr>
              <a:t>研究背景与动机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2224278"/>
            <a:ext cx="5454396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185916" y="859536"/>
            <a:ext cx="54864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859536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4283" y="896112"/>
            <a:ext cx="4704588" cy="1319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微软雅黑"/>
              </a:rPr>
              <a:t>GGG基质晶体结构与材料合成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85916" y="2224278"/>
            <a:ext cx="5454396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57200" y="2315718"/>
            <a:ext cx="54864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1571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352294"/>
            <a:ext cx="4704588" cy="1319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微软雅黑"/>
              </a:rPr>
              <a:t>Cr3+/Ni2+单掺杂光致发光特性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3680460"/>
            <a:ext cx="5454396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185916" y="2315718"/>
            <a:ext cx="54864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5916" y="2315718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4283" y="2352294"/>
            <a:ext cx="4704588" cy="1319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微软雅黑"/>
              </a:rPr>
              <a:t>Cr3+→Ni2+能量转移机制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85916" y="3680460"/>
            <a:ext cx="5454396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57200" y="3771900"/>
            <a:ext cx="54864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71900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808476"/>
            <a:ext cx="4704588" cy="1319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微软雅黑"/>
              </a:rPr>
              <a:t>异价掺杂与两步烧结促进能量转移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5136642"/>
            <a:ext cx="5454396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185916" y="3771900"/>
            <a:ext cx="54864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5916" y="3771900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4283" y="3808476"/>
            <a:ext cx="4704588" cy="1319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微软雅黑"/>
              </a:rPr>
              <a:t>光学性能与量子效率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85916" y="5136642"/>
            <a:ext cx="5454396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57200" y="5228081"/>
            <a:ext cx="548640" cy="5303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228081"/>
            <a:ext cx="548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264657"/>
            <a:ext cx="4704588" cy="1319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微软雅黑"/>
              </a:rPr>
              <a:t>SWIR pc-LED器件应用与总结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3112" y="65288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Times New Roman"/>
              </a:rPr>
              <a:t>1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73152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0"/>
            <a:ext cx="11091672" cy="6858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0"/>
            <a:ext cx="11091672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6793992"/>
            <a:ext cx="11091672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B339"/>
                </a:solidFill>
                <a:latin typeface="Times New Roman"/>
              </a:rPr>
              <a:t>— Part  1 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3044952"/>
            <a:ext cx="8805672" cy="0"/>
          </a:xfrm>
          <a:prstGeom prst="line">
            <a:avLst/>
          </a:prstGeom>
          <a:ln w="3175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80160" y="3081528"/>
            <a:ext cx="10634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E3A5F"/>
                </a:solidFill>
                <a:latin typeface="微软雅黑"/>
              </a:rPr>
              <a:t>研究背景与动机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4178808"/>
            <a:ext cx="7891272" cy="0"/>
          </a:xfrm>
          <a:prstGeom prst="line">
            <a:avLst/>
          </a:prstGeom>
          <a:ln w="1524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183112" y="65288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Times New Roman"/>
              </a:rPr>
              <a:t>2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58368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64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B339"/>
                </a:solidFill>
                <a:latin typeface="Times New Roman"/>
              </a:rP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36576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A8AB0"/>
                </a:solidFill>
                <a:latin typeface="Times New Roman"/>
              </a:rPr>
              <a:t>NAVIGATOR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" y="658368"/>
            <a:ext cx="1645920" cy="0"/>
          </a:xfrm>
          <a:prstGeom prst="line">
            <a:avLst/>
          </a:prstGeom>
          <a:ln w="1016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658368"/>
            <a:ext cx="1828800" cy="1188720"/>
          </a:xfrm>
          <a:prstGeom prst="rect">
            <a:avLst/>
          </a:prstGeom>
          <a:solidFill>
            <a:srgbClr val="1C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"/>
            <a:ext cx="64008" cy="118872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69402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B339"/>
                </a:solidFill>
                <a:latin typeface="Times New Roman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" y="106253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研究背景与动机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" y="188274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" y="225125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GGG基质晶体结构与材料合成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9728" y="302849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9728" y="307146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" y="343997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Cr3+/Ni2+单掺杂光致发光特性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" y="421721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728" y="426018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" y="462869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Cr3+→Ni2+能量转移机制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9728" y="540593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9728" y="544890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" y="581741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异价掺杂与两步烧结促进能量转移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" y="6629400"/>
            <a:ext cx="1645920" cy="0"/>
          </a:xfrm>
          <a:prstGeom prst="line">
            <a:avLst/>
          </a:prstGeom>
          <a:ln w="635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965960" y="0"/>
            <a:ext cx="10222992" cy="5669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65960" y="0"/>
            <a:ext cx="64008" cy="566928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30552" y="5486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B339"/>
                </a:solidFill>
                <a:latin typeface="Times New Roman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9192" y="54864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研究背景与动机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731520"/>
            <a:ext cx="9930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微软雅黑"/>
              </a:rPr>
              <a:t>（请填写）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965960" y="1024128"/>
            <a:ext cx="10021824" cy="0"/>
          </a:xfrm>
          <a:prstGeom prst="line">
            <a:avLst/>
          </a:prstGeom>
          <a:ln w="1143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011679" y="1161288"/>
            <a:ext cx="9976103" cy="915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16"/>
              </a:lnSpc>
            </a:pPr>
            <a:r>
              <a:rPr sz="22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200">
                <a:solidFill>
                  <a:srgbClr val="000000"/>
                </a:solidFill>
                <a:latin typeface="Times New Roman"/>
              </a:rPr>
              <a:t>短波红外光（SWIR, 900-1700 nm）具有弱光子散射和强组织穿透能力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79" y="2077211"/>
            <a:ext cx="9976103" cy="915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16"/>
              </a:lnSpc>
            </a:pPr>
            <a:r>
              <a:rPr sz="22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200">
                <a:solidFill>
                  <a:srgbClr val="000000"/>
                </a:solidFill>
                <a:latin typeface="Times New Roman"/>
              </a:rPr>
              <a:t>在生物医学成像、食品检测、光通信等领域具有广泛应用前景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79" y="2993135"/>
            <a:ext cx="9976103" cy="915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16"/>
              </a:lnSpc>
            </a:pPr>
            <a:r>
              <a:rPr sz="22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200">
                <a:solidFill>
                  <a:srgbClr val="000000"/>
                </a:solidFill>
                <a:latin typeface="Times New Roman"/>
              </a:rPr>
              <a:t>传统NIR光源（InGaAs LED、钨卤灯）存在发射带宽窄或体积大的局限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79" y="3909059"/>
            <a:ext cx="9976103" cy="915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16"/>
              </a:lnSpc>
            </a:pPr>
            <a:r>
              <a:rPr sz="22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200">
                <a:solidFill>
                  <a:srgbClr val="000000"/>
                </a:solidFill>
                <a:latin typeface="Times New Roman"/>
              </a:rPr>
              <a:t>荧光粉转换型SWIR LED（pc-SWIR LED）是下一代便携式光源的理想选择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79" y="4824983"/>
            <a:ext cx="9976103" cy="915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16"/>
              </a:lnSpc>
            </a:pPr>
            <a:r>
              <a:rPr sz="22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200">
                <a:solidFill>
                  <a:srgbClr val="000000"/>
                </a:solidFill>
                <a:latin typeface="Times New Roman"/>
              </a:rPr>
              <a:t>&lt;span style='color:#EE0000'&gt;核心挑战：Ni2+掺杂荧光粉蓝光吸收弱、发光效率低&lt;/span&gt;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79" y="5740907"/>
            <a:ext cx="9976103" cy="915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16"/>
              </a:lnSpc>
            </a:pPr>
            <a:r>
              <a:rPr sz="22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200">
                <a:solidFill>
                  <a:srgbClr val="000000"/>
                </a:solidFill>
                <a:latin typeface="Times New Roman"/>
              </a:rPr>
              <a:t>Cr3+→Ni2+能量转移是提升蓝光激发效率的有效策略，但ET效率提升极具挑战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5288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Times New Roman"/>
              </a:rPr>
              <a:t>3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73152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0"/>
            <a:ext cx="11091672" cy="6858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0"/>
            <a:ext cx="11091672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6793992"/>
            <a:ext cx="11091672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B339"/>
                </a:solidFill>
                <a:latin typeface="Times New Roman"/>
              </a:rPr>
              <a:t>— Part  2 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3044952"/>
            <a:ext cx="8805672" cy="0"/>
          </a:xfrm>
          <a:prstGeom prst="line">
            <a:avLst/>
          </a:prstGeom>
          <a:ln w="3175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80160" y="3081528"/>
            <a:ext cx="10634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3A5F"/>
                </a:solidFill>
                <a:latin typeface="微软雅黑"/>
              </a:rPr>
              <a:t>GGG基质晶体结构与材料合成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4178808"/>
            <a:ext cx="7891272" cy="0"/>
          </a:xfrm>
          <a:prstGeom prst="line">
            <a:avLst/>
          </a:prstGeom>
          <a:ln w="1524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183112" y="65288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Times New Roman"/>
              </a:rPr>
              <a:t>4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58368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64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B339"/>
                </a:solidFill>
                <a:latin typeface="Times New Roman"/>
              </a:rP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36576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A8AB0"/>
                </a:solidFill>
                <a:latin typeface="Times New Roman"/>
              </a:rPr>
              <a:t>NAVIGATOR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" y="658368"/>
            <a:ext cx="1645920" cy="0"/>
          </a:xfrm>
          <a:prstGeom prst="line">
            <a:avLst/>
          </a:prstGeom>
          <a:ln w="1016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" y="69402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" y="106253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研究背景与动机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" y="183977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1847088"/>
            <a:ext cx="1828800" cy="1188720"/>
          </a:xfrm>
          <a:prstGeom prst="rect">
            <a:avLst/>
          </a:prstGeom>
          <a:solidFill>
            <a:srgbClr val="1C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847088"/>
            <a:ext cx="64008" cy="118872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" y="188274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B339"/>
                </a:solidFill>
                <a:latin typeface="Times New Roman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225125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GGG基质晶体结构与材料合成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" y="307146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" y="343997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Cr3+/Ni2+单掺杂光致发光特性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" y="421721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728" y="426018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" y="462869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Cr3+→Ni2+能量转移机制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9728" y="540593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9728" y="544890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" y="581741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异价掺杂与两步烧结促进能量转移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" y="6629400"/>
            <a:ext cx="1645920" cy="0"/>
          </a:xfrm>
          <a:prstGeom prst="line">
            <a:avLst/>
          </a:prstGeom>
          <a:ln w="635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965960" y="0"/>
            <a:ext cx="10222992" cy="5669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65960" y="0"/>
            <a:ext cx="64008" cy="566928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30552" y="5486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B339"/>
                </a:solidFill>
                <a:latin typeface="Times New Roman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9192" y="54864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GGG基质晶体结构与材料合成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79" y="731520"/>
            <a:ext cx="4800600" cy="1250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Gd3Ga5O12（GGG）石榴石结构：Gd3+占据十二面体位，Ga3+占据四面体和八面体位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79" y="1981606"/>
            <a:ext cx="4800600" cy="1250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Cr3+和Ni2+取代Ga3+的八面体配位位置，Zr4+作为电荷补偿剂共掺杂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79" y="3231692"/>
            <a:ext cx="4800600" cy="924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采用固相反应法合成，辅以两步烧结法（TSS）优化结晶质量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79" y="4156659"/>
            <a:ext cx="4800600" cy="1250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XRD精修证实所有样品为纯相，无GdBO3杂相（Rwp=5.39%, Rp=3.84%）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79" y="5406745"/>
            <a:ext cx="4800600" cy="1250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SEM显示荧光粉颗粒为微米级，表面致密光滑；EDS证实元素均匀分布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85431" y="822960"/>
            <a:ext cx="0" cy="5742432"/>
          </a:xfrm>
          <a:prstGeom prst="line">
            <a:avLst/>
          </a:prstGeom>
          <a:ln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fig1_p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1" y="1379013"/>
            <a:ext cx="5010912" cy="442915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76871" y="5835602"/>
            <a:ext cx="5010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微软雅黑"/>
              </a:rPr>
              <a:t>▲  图1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5288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Times New Roman"/>
              </a:rPr>
              <a:t>5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73152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0"/>
            <a:ext cx="11091672" cy="6858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0"/>
            <a:ext cx="11091672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6793992"/>
            <a:ext cx="11091672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B339"/>
                </a:solidFill>
                <a:latin typeface="Times New Roman"/>
              </a:rPr>
              <a:t>— Part  3 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3044952"/>
            <a:ext cx="8805672" cy="0"/>
          </a:xfrm>
          <a:prstGeom prst="line">
            <a:avLst/>
          </a:prstGeom>
          <a:ln w="3175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80160" y="3081528"/>
            <a:ext cx="10634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3A5F"/>
                </a:solidFill>
                <a:latin typeface="微软雅黑"/>
              </a:rPr>
              <a:t>Cr3+/Ni2+单掺杂光致发光特性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4178808"/>
            <a:ext cx="7891272" cy="0"/>
          </a:xfrm>
          <a:prstGeom prst="line">
            <a:avLst/>
          </a:prstGeom>
          <a:ln w="1524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183112" y="65288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Times New Roman"/>
              </a:rPr>
              <a:t>6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58368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64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B339"/>
                </a:solidFill>
                <a:latin typeface="Times New Roman"/>
              </a:rP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36576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A8AB0"/>
                </a:solidFill>
                <a:latin typeface="Times New Roman"/>
              </a:rPr>
              <a:t>NAVIGATOR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" y="658368"/>
            <a:ext cx="1645920" cy="0"/>
          </a:xfrm>
          <a:prstGeom prst="line">
            <a:avLst/>
          </a:prstGeom>
          <a:ln w="1016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" y="69402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" y="106253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研究背景与动机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" y="183977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" y="188274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" y="225125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GGG基质晶体结构与材料合成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" y="302849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3035808"/>
            <a:ext cx="1828800" cy="1188720"/>
          </a:xfrm>
          <a:prstGeom prst="rect">
            <a:avLst/>
          </a:prstGeom>
          <a:solidFill>
            <a:srgbClr val="1C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035808"/>
            <a:ext cx="64008" cy="118872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" y="307146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B339"/>
                </a:solidFill>
                <a:latin typeface="Times New Roman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" y="343997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Cr3+/Ni2+单掺杂光致发光特性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" y="426018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" y="462869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Cr3+→Ni2+能量转移机制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9728" y="540593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9728" y="544890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" y="581741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异价掺杂与两步烧结促进能量转移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" y="6629400"/>
            <a:ext cx="1645920" cy="0"/>
          </a:xfrm>
          <a:prstGeom prst="line">
            <a:avLst/>
          </a:prstGeom>
          <a:ln w="635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965960" y="0"/>
            <a:ext cx="10222992" cy="5669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65960" y="0"/>
            <a:ext cx="64008" cy="566928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30552" y="5486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B339"/>
                </a:solidFill>
                <a:latin typeface="Times New Roman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9192" y="54864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Cr3+/Ni2+单掺杂光致发光特性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79" y="731520"/>
            <a:ext cx="4800600" cy="1250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GGG:Cr3+在450 nm和631 nm处有两个强吸收带（4A2→4T1和4A2→4T2跃迁）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79" y="1981606"/>
            <a:ext cx="4800600" cy="1250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GGG:Ni2+,Zr4+在411 nm、680 nm、1106 nm处有三个强吸收带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79" y="3231692"/>
            <a:ext cx="4800600" cy="1250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Cr3+发射峰位于730 nm（FWHM=103 nm），Ni2+发射峰位于1475 nm（FWHM=271 nm）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79" y="4481779"/>
            <a:ext cx="4800600" cy="1250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光学带隙约5.43 eV，Ni2+最佳掺杂浓度为y=0.02，Cr3+最佳浓度为x=0.07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79" y="5731865"/>
            <a:ext cx="4800600" cy="924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Tanabe-Sugano能级图确认Ni2+处于八面体配位环境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85431" y="822960"/>
            <a:ext cx="0" cy="5742432"/>
          </a:xfrm>
          <a:prstGeom prst="line">
            <a:avLst/>
          </a:prstGeom>
          <a:ln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fig2_p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1" y="1573201"/>
            <a:ext cx="5010912" cy="404078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76871" y="5641414"/>
            <a:ext cx="5010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微软雅黑"/>
              </a:rPr>
              <a:t>▲  图2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5288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Times New Roman"/>
              </a:rPr>
              <a:t>7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73152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0"/>
            <a:ext cx="11091672" cy="6858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0"/>
            <a:ext cx="11091672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6793992"/>
            <a:ext cx="11091672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B339"/>
                </a:solidFill>
                <a:latin typeface="Times New Roman"/>
              </a:rPr>
              <a:t>— Part  4 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3044952"/>
            <a:ext cx="8805672" cy="0"/>
          </a:xfrm>
          <a:prstGeom prst="line">
            <a:avLst/>
          </a:prstGeom>
          <a:ln w="3175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80160" y="3081528"/>
            <a:ext cx="10634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3A5F"/>
                </a:solidFill>
                <a:latin typeface="微软雅黑"/>
              </a:rPr>
              <a:t>Cr3+→Ni2+能量转移机制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4178808"/>
            <a:ext cx="7891272" cy="0"/>
          </a:xfrm>
          <a:prstGeom prst="line">
            <a:avLst/>
          </a:prstGeom>
          <a:ln w="1524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183112" y="65288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Times New Roman"/>
              </a:rPr>
              <a:t>8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58368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64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B339"/>
                </a:solidFill>
                <a:latin typeface="Times New Roman"/>
              </a:rP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36576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A8AB0"/>
                </a:solidFill>
                <a:latin typeface="Times New Roman"/>
              </a:rPr>
              <a:t>NAVIGATOR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" y="658368"/>
            <a:ext cx="1645920" cy="0"/>
          </a:xfrm>
          <a:prstGeom prst="line">
            <a:avLst/>
          </a:prstGeom>
          <a:ln w="1016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" y="69402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" y="106253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GGG基质晶体结构与材料合成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" y="183977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" y="188274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" y="225125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Cr3+/Ni2+单掺杂光致发光特性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" y="302849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3035808"/>
            <a:ext cx="1828800" cy="1188720"/>
          </a:xfrm>
          <a:prstGeom prst="rect">
            <a:avLst/>
          </a:prstGeom>
          <a:solidFill>
            <a:srgbClr val="1C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035808"/>
            <a:ext cx="64008" cy="118872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" y="307146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B339"/>
                </a:solidFill>
                <a:latin typeface="Times New Roman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" y="343997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Cr3+→Ni2+能量转移机制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" y="426018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" y="462869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异价掺杂与两步烧结促进能量转移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9728" y="540593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9728" y="544890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" y="581741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光学性能与量子效率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" y="6629400"/>
            <a:ext cx="1645920" cy="0"/>
          </a:xfrm>
          <a:prstGeom prst="line">
            <a:avLst/>
          </a:prstGeom>
          <a:ln w="635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965960" y="0"/>
            <a:ext cx="10222992" cy="5669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65960" y="0"/>
            <a:ext cx="64008" cy="566928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30552" y="5486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B339"/>
                </a:solidFill>
                <a:latin typeface="Times New Roman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9192" y="54864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Cr3+→Ni2+能量转移机制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79" y="731520"/>
            <a:ext cx="5261318" cy="1366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&lt;span style='color:#EE0000'&gt;核心创新：Cr3+→Ni2+能量转移是实现蓝光激发SWIR发射的关键策略&lt;/span&gt;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79" y="2098378"/>
            <a:ext cx="5261318" cy="1041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Cr3+发射光谱（730 nm）与Ni2+激发光谱（680 nm）存在显著光谱重叠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79" y="3140117"/>
            <a:ext cx="5261318" cy="716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能量转移效率随Ni2+浓度增加而提高，最高达57.1%（x=0.2时）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79" y="3856736"/>
            <a:ext cx="5261318" cy="1041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临界能量转移距离Rc=7.78-11.13 Å &gt; 5 Å，表明以多极相互作用为主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79" y="4898474"/>
            <a:ext cx="5261318" cy="716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能量转移机制为四极子-四极子相互作用（n=10拟合最佳）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79" y="5615093"/>
            <a:ext cx="5261318" cy="1041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能级过程：Cr3+吸收蓝光→4T1→4T2非辐射弛豫→能量转移至Ni2+ 3T1→3T2→3A2发射1475 nm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46150" y="822960"/>
            <a:ext cx="0" cy="5742432"/>
          </a:xfrm>
          <a:prstGeom prst="line">
            <a:avLst/>
          </a:prstGeom>
          <a:ln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fig3_p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590" y="731520"/>
            <a:ext cx="4550193" cy="57241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37590" y="6483096"/>
            <a:ext cx="455019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微软雅黑"/>
              </a:rPr>
              <a:t>▲  图3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3112" y="65288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Times New Roman"/>
              </a:rPr>
              <a:t>9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73152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0"/>
            <a:ext cx="11091672" cy="6858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0"/>
            <a:ext cx="11091672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6793992"/>
            <a:ext cx="11091672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B339"/>
                </a:solidFill>
                <a:latin typeface="Times New Roman"/>
              </a:rPr>
              <a:t>— Part  5 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3044952"/>
            <a:ext cx="8805672" cy="0"/>
          </a:xfrm>
          <a:prstGeom prst="line">
            <a:avLst/>
          </a:prstGeom>
          <a:ln w="3175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80160" y="3081528"/>
            <a:ext cx="10634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3A5F"/>
                </a:solidFill>
                <a:latin typeface="微软雅黑"/>
              </a:rPr>
              <a:t>异价掺杂与两步烧结促进能量转移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4178808"/>
            <a:ext cx="7891272" cy="0"/>
          </a:xfrm>
          <a:prstGeom prst="line">
            <a:avLst/>
          </a:prstGeom>
          <a:ln w="1524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183112" y="65288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Times New Roman"/>
              </a:rPr>
              <a:t>10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58368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64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B339"/>
                </a:solidFill>
                <a:latin typeface="Times New Roman"/>
              </a:rP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36576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A8AB0"/>
                </a:solidFill>
                <a:latin typeface="Times New Roman"/>
              </a:rPr>
              <a:t>NAVIGATOR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" y="658368"/>
            <a:ext cx="1645920" cy="0"/>
          </a:xfrm>
          <a:prstGeom prst="line">
            <a:avLst/>
          </a:prstGeom>
          <a:ln w="1016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" y="69402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" y="106253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Cr3+/Ni2+单掺杂光致发光特性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" y="183977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" y="188274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" y="225125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Cr3+→Ni2+能量转移机制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" y="302849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3035808"/>
            <a:ext cx="1828800" cy="1188720"/>
          </a:xfrm>
          <a:prstGeom prst="rect">
            <a:avLst/>
          </a:prstGeom>
          <a:solidFill>
            <a:srgbClr val="1C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035808"/>
            <a:ext cx="64008" cy="118872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" y="307146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B339"/>
                </a:solidFill>
                <a:latin typeface="Times New Roman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" y="343997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异价掺杂与两步烧结促进能量转移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" y="426018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" y="462869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光学性能与量子效率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9728" y="540593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9728" y="544890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" y="581741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SWIR pc-LED器件应用与总结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" y="6629400"/>
            <a:ext cx="1645920" cy="0"/>
          </a:xfrm>
          <a:prstGeom prst="line">
            <a:avLst/>
          </a:prstGeom>
          <a:ln w="635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965960" y="0"/>
            <a:ext cx="10222992" cy="5669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65960" y="0"/>
            <a:ext cx="64008" cy="566928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30552" y="5486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B339"/>
                </a:solidFill>
                <a:latin typeface="Times New Roman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9192" y="54864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异价掺杂与两步烧结促进能量转移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79" y="731520"/>
            <a:ext cx="9976103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4"/>
              </a:lnSpc>
            </a:pPr>
            <a:r>
              <a:rPr sz="18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1800">
                <a:solidFill>
                  <a:srgbClr val="000000"/>
                </a:solidFill>
                <a:latin typeface="Times New Roman"/>
              </a:rPr>
              <a:t>&lt;span style='color:#EE0000'&gt;Zr4+电荷补偿：Ni2++Zr4+→2Ga3+共取代策略，减少电荷缺陷&lt;/span&gt;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79" y="1077163"/>
            <a:ext cx="9976103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4"/>
              </a:lnSpc>
            </a:pPr>
            <a:r>
              <a:rPr sz="18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1800">
                <a:solidFill>
                  <a:srgbClr val="000000"/>
                </a:solidFill>
                <a:latin typeface="Times New Roman"/>
              </a:rPr>
              <a:t>引入Zr4+后，Ni2+发射强度提升6倍（单掺杂）和4倍（共掺杂）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79" y="1422806"/>
            <a:ext cx="9976103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4"/>
              </a:lnSpc>
            </a:pPr>
            <a:r>
              <a:rPr sz="18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1800">
                <a:solidFill>
                  <a:srgbClr val="000000"/>
                </a:solidFill>
                <a:latin typeface="Times New Roman"/>
              </a:rPr>
              <a:t>重Cr3+掺杂（x=0.4）进一步缩短Cr3+-Ni2+距离，ET效率提升至75.8%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79" y="1768449"/>
            <a:ext cx="9976103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4"/>
              </a:lnSpc>
            </a:pPr>
            <a:r>
              <a:rPr sz="18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1800">
                <a:solidFill>
                  <a:srgbClr val="000000"/>
                </a:solidFill>
                <a:latin typeface="Times New Roman"/>
              </a:rPr>
              <a:t>&lt;span style='color:#EE0000'&gt;两步烧结法（TSS）：消除GdBO3杂相，减少晶界缺陷，提升结晶度&lt;/span&gt;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79" y="2114092"/>
            <a:ext cx="9976103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4"/>
              </a:lnSpc>
            </a:pPr>
            <a:r>
              <a:rPr sz="18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1800">
                <a:solidFill>
                  <a:srgbClr val="000000"/>
                </a:solidFill>
                <a:latin typeface="Times New Roman"/>
              </a:rPr>
              <a:t>TSS样品在373 K和423 K分别保持78.6%和47.4%的室温发射强度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79" y="2459736"/>
            <a:ext cx="9976103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4"/>
              </a:lnSpc>
            </a:pPr>
            <a:r>
              <a:rPr sz="18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1800">
                <a:solidFill>
                  <a:srgbClr val="000000"/>
                </a:solidFill>
                <a:latin typeface="Times New Roman"/>
              </a:rPr>
              <a:t>热猝灭激活能ΔE=0.406 eV，同类1400+ nm发射荧光粉中表现最优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965960" y="2823667"/>
            <a:ext cx="10021824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fig4_p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508" y="2878531"/>
            <a:ext cx="4542950" cy="35954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965960" y="6492240"/>
            <a:ext cx="4956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微软雅黑"/>
              </a:rPr>
              <a:t>▲  图4</a:t>
            </a:r>
          </a:p>
        </p:txBody>
      </p:sp>
      <p:pic>
        <p:nvPicPr>
          <p:cNvPr id="36" name="Picture 35" descr="fig5_p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973" y="2878531"/>
            <a:ext cx="2907572" cy="35954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031736" y="6492240"/>
            <a:ext cx="4956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微软雅黑"/>
              </a:rPr>
              <a:t>▲  图5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3112" y="65288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Times New Roman"/>
              </a:rPr>
              <a:t>11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73152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0"/>
            <a:ext cx="11091672" cy="6858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0"/>
            <a:ext cx="11091672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6793992"/>
            <a:ext cx="11091672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B339"/>
                </a:solidFill>
                <a:latin typeface="Times New Roman"/>
              </a:rPr>
              <a:t>— Part  6 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3044952"/>
            <a:ext cx="8805672" cy="0"/>
          </a:xfrm>
          <a:prstGeom prst="line">
            <a:avLst/>
          </a:prstGeom>
          <a:ln w="3175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80160" y="3081528"/>
            <a:ext cx="10634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E3A5F"/>
                </a:solidFill>
                <a:latin typeface="微软雅黑"/>
              </a:rPr>
              <a:t>光学性能与量子效率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4178808"/>
            <a:ext cx="7891272" cy="0"/>
          </a:xfrm>
          <a:prstGeom prst="line">
            <a:avLst/>
          </a:prstGeom>
          <a:ln w="1524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183112" y="65288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Times New Roman"/>
              </a:rPr>
              <a:t>12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58368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64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B339"/>
                </a:solidFill>
                <a:latin typeface="Times New Roman"/>
              </a:rP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36576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A8AB0"/>
                </a:solidFill>
                <a:latin typeface="Times New Roman"/>
              </a:rPr>
              <a:t>NAVIGATOR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" y="658368"/>
            <a:ext cx="1645920" cy="0"/>
          </a:xfrm>
          <a:prstGeom prst="line">
            <a:avLst/>
          </a:prstGeom>
          <a:ln w="1016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" y="69402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" y="106253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Cr3+/Ni2+单掺杂光致发光特性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" y="183977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" y="188274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" y="225125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Cr3+→Ni2+能量转移机制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" y="302849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728" y="307146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" y="343997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异价掺杂与两步烧结促进能量转移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" y="421721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0" y="4224528"/>
            <a:ext cx="1828800" cy="1188720"/>
          </a:xfrm>
          <a:prstGeom prst="rect">
            <a:avLst/>
          </a:prstGeom>
          <a:solidFill>
            <a:srgbClr val="1C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224528"/>
            <a:ext cx="64008" cy="118872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426018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B339"/>
                </a:solidFill>
                <a:latin typeface="Times New Roman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" y="462869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光学性能与量子效率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" y="544890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" y="581741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SWIR pc-LED器件应用与总结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" y="6629400"/>
            <a:ext cx="1645920" cy="0"/>
          </a:xfrm>
          <a:prstGeom prst="line">
            <a:avLst/>
          </a:prstGeom>
          <a:ln w="635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965960" y="0"/>
            <a:ext cx="10222992" cy="5669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65960" y="0"/>
            <a:ext cx="64008" cy="566928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30552" y="5486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B339"/>
                </a:solidFill>
                <a:latin typeface="Times New Roman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9192" y="54864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光学性能与量子效率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731520"/>
            <a:ext cx="9930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微软雅黑"/>
              </a:rPr>
              <a:t>（请填写）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965960" y="1024128"/>
            <a:ext cx="10021824" cy="0"/>
          </a:xfrm>
          <a:prstGeom prst="line">
            <a:avLst/>
          </a:prstGeom>
          <a:ln w="1143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011679" y="1161288"/>
            <a:ext cx="9976103" cy="856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16"/>
              </a:lnSpc>
            </a:pPr>
            <a:r>
              <a:rPr sz="22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200">
                <a:solidFill>
                  <a:srgbClr val="000000"/>
                </a:solidFill>
                <a:latin typeface="Times New Roman"/>
              </a:rPr>
              <a:t>TSS-GGG:0.4Cr3+,0.02Ni2+,0.02Zr4+的Ni2+发射强度是单掺杂样品的37倍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79" y="2017606"/>
            <a:ext cx="9976103" cy="856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16"/>
              </a:lnSpc>
            </a:pPr>
            <a:r>
              <a:rPr sz="22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200">
                <a:solidFill>
                  <a:srgbClr val="000000"/>
                </a:solidFill>
                <a:latin typeface="Times New Roman"/>
              </a:rPr>
              <a:t>蓝光吸收效率提升至48.9%，内量子效率IQE=63.6%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79" y="2873925"/>
            <a:ext cx="9976103" cy="1213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16"/>
              </a:lnSpc>
            </a:pPr>
            <a:r>
              <a:rPr sz="22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200">
                <a:solidFill>
                  <a:srgbClr val="000000"/>
                </a:solidFill>
                <a:latin typeface="Times New Roman"/>
              </a:rPr>
              <a:t>&lt;span style='color:#EE0000'&gt;外量子效率EQE=31.1%，创发射峰&gt;1400 nm荧光粉新纪录&lt;/span&gt;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79" y="4087876"/>
            <a:ext cx="9976103" cy="856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16"/>
              </a:lnSpc>
            </a:pPr>
            <a:r>
              <a:rPr sz="22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200">
                <a:solidFill>
                  <a:srgbClr val="000000"/>
                </a:solidFill>
                <a:latin typeface="Times New Roman"/>
              </a:rPr>
              <a:t>发射范围1200-1650 nm，中心波长1475 nm，半高宽271 nm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79" y="4944194"/>
            <a:ext cx="9976103" cy="856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16"/>
              </a:lnSpc>
            </a:pPr>
            <a:r>
              <a:rPr sz="22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200">
                <a:solidFill>
                  <a:srgbClr val="000000"/>
                </a:solidFill>
                <a:latin typeface="Times New Roman"/>
              </a:rPr>
              <a:t>与已报道Cr3+/Ni2+共掺荧光粉相比，热稳定性和量子效率均达领先水平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79" y="5800513"/>
            <a:ext cx="9976103" cy="856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16"/>
              </a:lnSpc>
            </a:pPr>
            <a:r>
              <a:rPr sz="22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200">
                <a:solidFill>
                  <a:srgbClr val="000000"/>
                </a:solidFill>
                <a:latin typeface="Times New Roman"/>
              </a:rPr>
              <a:t>综合策略：重Cr3+掺杂 + Zr4+电荷补偿 + TSS工艺 = 三维协同优化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5288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Times New Roman"/>
              </a:rPr>
              <a:t>13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73152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0"/>
            <a:ext cx="11091672" cy="6858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0"/>
            <a:ext cx="11091672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6793992"/>
            <a:ext cx="11091672" cy="640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B339"/>
                </a:solidFill>
                <a:latin typeface="Times New Roman"/>
              </a:rPr>
              <a:t>— Part  7 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3044952"/>
            <a:ext cx="8805672" cy="0"/>
          </a:xfrm>
          <a:prstGeom prst="line">
            <a:avLst/>
          </a:prstGeom>
          <a:ln w="3175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80160" y="3081528"/>
            <a:ext cx="10634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3A5F"/>
                </a:solidFill>
                <a:latin typeface="微软雅黑"/>
              </a:rPr>
              <a:t>SWIR pc-LED器件应用与总结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4178808"/>
            <a:ext cx="7891272" cy="0"/>
          </a:xfrm>
          <a:prstGeom prst="line">
            <a:avLst/>
          </a:prstGeom>
          <a:ln w="1524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183112" y="65288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Times New Roman"/>
              </a:rPr>
              <a:t>14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58368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64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B339"/>
                </a:solidFill>
                <a:latin typeface="Times New Roman"/>
              </a:rP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36576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A8AB0"/>
                </a:solidFill>
                <a:latin typeface="Times New Roman"/>
              </a:rPr>
              <a:t>NAVIGATOR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" y="658368"/>
            <a:ext cx="1645920" cy="0"/>
          </a:xfrm>
          <a:prstGeom prst="line">
            <a:avLst/>
          </a:prstGeom>
          <a:ln w="1016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" y="69402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" y="106253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Cr3+/Ni2+单掺杂光致发光特性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" y="183977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" y="188274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" y="225125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Cr3+→Ni2+能量转移机制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" y="302849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728" y="307146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" y="343997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异价掺杂与两步烧结促进能量转移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" y="421721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9728" y="426018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6A99"/>
                </a:solidFill>
                <a:latin typeface="Times New Roman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" y="462869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BDD8"/>
                </a:solidFill>
                <a:latin typeface="微软雅黑"/>
              </a:rPr>
              <a:t>光学性能与量子效率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9728" y="5405932"/>
            <a:ext cx="1609344" cy="0"/>
          </a:xfrm>
          <a:prstGeom prst="line">
            <a:avLst/>
          </a:prstGeom>
          <a:ln w="3810">
            <a:solidFill>
              <a:srgbClr val="1A3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0" y="5413248"/>
            <a:ext cx="1828800" cy="1188720"/>
          </a:xfrm>
          <a:prstGeom prst="rect">
            <a:avLst/>
          </a:prstGeom>
          <a:solidFill>
            <a:srgbClr val="1C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13248"/>
            <a:ext cx="64008" cy="1188720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" y="5448909"/>
            <a:ext cx="168249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B339"/>
                </a:solidFill>
                <a:latin typeface="Times New Roman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" y="5817412"/>
            <a:ext cx="1682495" cy="737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SWIR pc-LED器件应用与总结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" y="6629400"/>
            <a:ext cx="1645920" cy="0"/>
          </a:xfrm>
          <a:prstGeom prst="line">
            <a:avLst/>
          </a:prstGeom>
          <a:ln w="635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965960" y="0"/>
            <a:ext cx="10222992" cy="5669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65960" y="0"/>
            <a:ext cx="64008" cy="566928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30552" y="54864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B339"/>
                </a:solidFill>
                <a:latin typeface="Times New Roman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9192" y="54864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SWIR pc-LED器件应用与总结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79" y="731520"/>
            <a:ext cx="4800600" cy="120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集成GGG:Cr3+,Ni2+荧光粉与450 nm蓝光芯片，制备SWIR pc-LED器件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79" y="1935818"/>
            <a:ext cx="4800600" cy="879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驱动电流320 mA时，输出功率达24.62 mW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79" y="2814997"/>
            <a:ext cx="4800600" cy="879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医学应用：手掌血管清晰成像，穿透不透明塑料药瓶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79" y="3694176"/>
            <a:ext cx="4800600" cy="879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夜视应用：香蕉和苹果的SWIR成像可识别内部损伤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79" y="4573354"/>
            <a:ext cx="4800600" cy="120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&lt;span style='color:#EE0000'&gt;本研究为高性能SWIR荧光粉的设计开发提供了重要参考&lt;/span&gt;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79" y="5777653"/>
            <a:ext cx="4800600" cy="879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</a:pPr>
            <a:r>
              <a:rPr sz="2000">
                <a:solidFill>
                  <a:srgbClr val="1E3A5F"/>
                </a:solidFill>
                <a:latin typeface="Times New Roman"/>
              </a:rPr>
              <a:t>➢  </a:t>
            </a:r>
            <a:r>
              <a:rPr sz="2000">
                <a:solidFill>
                  <a:srgbClr val="000000"/>
                </a:solidFill>
                <a:latin typeface="Times New Roman"/>
              </a:rPr>
              <a:t>多维协同优化策略可推广至其他Ni2+激活的SWIR发光材料体系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85431" y="822960"/>
            <a:ext cx="0" cy="5742432"/>
          </a:xfrm>
          <a:prstGeom prst="line">
            <a:avLst/>
          </a:prstGeom>
          <a:ln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fig6_p1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1" y="1695172"/>
            <a:ext cx="5010912" cy="379683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76871" y="5519443"/>
            <a:ext cx="5010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微软雅黑"/>
              </a:rPr>
              <a:t>▲  图6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3112" y="65288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Times New Roman"/>
              </a:rPr>
              <a:t>15 /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E8B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感谢聆听，请批评指正！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3657600"/>
            <a:ext cx="5760720" cy="0"/>
          </a:xfrm>
          <a:prstGeom prst="line">
            <a:avLst/>
          </a:prstGeom>
          <a:ln w="25400">
            <a:solidFill>
              <a:srgbClr val="E8B3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3822191"/>
            <a:ext cx="4480560" cy="0"/>
          </a:xfrm>
          <a:prstGeom prst="line">
            <a:avLst/>
          </a:prstGeom>
          <a:ln w="10160">
            <a:solidFill>
              <a:srgbClr val="3D6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397763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AFD4"/>
                </a:solidFill>
                <a:latin typeface="楷体"/>
              </a:rPr>
              <a:t>汇报人：（请填写）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